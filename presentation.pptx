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2" r:id="rId16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25" d="100"/>
          <a:sy n="125" d="100"/>
        </p:scale>
        <p:origin x="226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Episodic Memory for Adaptive Agent Planning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Information Retrieval over Episodic Memory:</a:t>
            </a:r>
          </a:p>
          <a:p>
            <a:r>
              <a:rPr dirty="0"/>
              <a:t>BM25, Dense, Hybrid, Field-Aware, Knowledge Graph, Cross-Encoder, and a Novel Graph-Augmented </a:t>
            </a:r>
            <a:r>
              <a:rPr dirty="0" err="1"/>
              <a:t>Reranker</a:t>
            </a:r>
            <a:endParaRPr dirty="0"/>
          </a:p>
          <a:p>
            <a:endParaRPr dirty="0"/>
          </a:p>
          <a:p>
            <a:r>
              <a:rPr dirty="0"/>
              <a:t>GROUP 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Motivation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r>
              <a:t>Current LLM agents use tools but:</a:t>
            </a:r>
          </a:p>
          <a:p>
            <a:pPr lvl="1"/>
            <a:r>
              <a:t>Repeat past mistakes</a:t>
            </a:r>
          </a:p>
          <a:p>
            <a:pPr lvl="1"/>
            <a:r>
              <a:t>Forget which tools failed for which task type</a:t>
            </a:r>
          </a:p>
          <a:p>
            <a:pPr lvl="1"/>
            <a:r>
              <a:t>Cannot adapt their tool selection over time</a:t>
            </a:r>
          </a:p>
          <a:p>
            <a:r>
              <a:t>An adaptive agent should:</a:t>
            </a:r>
          </a:p>
          <a:p>
            <a:pPr lvl="1"/>
            <a:r>
              <a:t>Learn from past successes</a:t>
            </a:r>
          </a:p>
          <a:p>
            <a:pPr lvl="1"/>
            <a:r>
              <a:t>Avoid previously failing strategies</a:t>
            </a:r>
          </a:p>
          <a:p>
            <a:pPr lvl="1"/>
            <a:r>
              <a:t>Bias action selection toward proven plans</a:t>
            </a:r>
          </a:p>
          <a:p>
            <a:r>
              <a:t>The bottleneck is the retrieval system over episodic memory: what we retrieve directly shapes what the agent does.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 &amp; Objectives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r>
              <a:rPr b="1"/>
              <a:t>Problem</a:t>
            </a:r>
          </a:p>
          <a:p>
            <a:pPr lvl="1"/>
            <a:r>
              <a:t>Existing retrieval-augmented systems retrieve facts to enrich responses.</a:t>
            </a:r>
          </a:p>
          <a:p>
            <a:pPr lvl="1"/>
            <a:r>
              <a:t>They do not influence the agent's action-selection policy.</a:t>
            </a:r>
          </a:p>
          <a:p>
            <a:pPr lvl="1"/>
            <a:r>
              <a:t>How do we design retrieval over episodic memory that actively shapes future planning and tool choice?</a:t>
            </a:r>
          </a:p>
          <a:p>
            <a:r>
              <a:rPr b="1"/>
              <a:t>Objectives</a:t>
            </a:r>
          </a:p>
          <a:p>
            <a:pPr lvl="1"/>
            <a:r>
              <a:t>Store structured agent experiences (state, plan, tools used, outcome)</a:t>
            </a:r>
          </a:p>
          <a:p>
            <a:pPr lvl="1"/>
            <a:r>
              <a:t>Build and rigorously compare multiple retrieval systems over them</a:t>
            </a:r>
          </a:p>
          <a:p>
            <a:pPr lvl="1"/>
            <a:r>
              <a:t>Design a novel multi-signal reranker that fuses lexical, dense, graph, and neural evidence</a:t>
            </a:r>
          </a:p>
          <a:p>
            <a:pPr lvl="1"/>
            <a:r>
              <a:t>Evaluate with both IR metrics and downstream agent-task metrics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Overview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r>
              <a:rPr b="1"/>
              <a:t>Pipeline (left to right):</a:t>
            </a:r>
          </a:p>
          <a:p>
            <a:pPr lvl="1"/>
            <a:r>
              <a:t>Datasets (ACE + MSC, HuggingFace)  -&gt;  Episode JSONL</a:t>
            </a:r>
          </a:p>
          <a:p>
            <a:pPr lvl="1"/>
            <a:r>
              <a:t>Episode JSONL  -&gt;  4 Indices (BM25, dense state, dense state+plan, KG)</a:t>
            </a:r>
          </a:p>
          <a:p>
            <a:pPr lvl="1"/>
            <a:r>
              <a:t>Indices  -&gt;  8 Retrievers (common Retriever protocol)</a:t>
            </a:r>
          </a:p>
          <a:p>
            <a:pPr lvl="1"/>
            <a:r>
              <a:t>Retrievers  -&gt;  Eval (P@k, R@k, MRR, nDCG)</a:t>
            </a:r>
          </a:p>
          <a:p>
            <a:pPr lvl="1"/>
            <a:r>
              <a:t>Retrievers  -&gt;  Simulated Agent  -&gt;  downstream metrics</a:t>
            </a:r>
          </a:p>
          <a:p>
            <a:r>
              <a:rPr b="1"/>
              <a:t>Key design decisions:</a:t>
            </a:r>
          </a:p>
          <a:p>
            <a:pPr lvl="1"/>
            <a:r>
              <a:t>Heterogeneous storage: BM25 + dense FAISS + scipy-sparse KG</a:t>
            </a:r>
          </a:p>
          <a:p>
            <a:pPr lvl="1"/>
            <a:r>
              <a:t>Outcome-aware filtering for success/failure pipelines</a:t>
            </a:r>
          </a:p>
          <a:p>
            <a:pPr lvl="1"/>
            <a:r>
              <a:t>Held-out IR evaluation with tool-Jaccard graded relevance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Datasets &amp; Episode Schema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r>
              <a:rPr b="1" dirty="0"/>
              <a:t>Datasets (</a:t>
            </a:r>
            <a:r>
              <a:rPr b="1" dirty="0" err="1"/>
              <a:t>HuggingFace</a:t>
            </a:r>
            <a:r>
              <a:rPr b="1" dirty="0"/>
              <a:t>, with reproducible synthetic fallback)</a:t>
            </a:r>
          </a:p>
          <a:p>
            <a:pPr lvl="1"/>
            <a:r>
              <a:rPr dirty="0"/>
              <a:t>ACE: agent-capability episodic-retrieval dataset (~800 episodes)</a:t>
            </a:r>
          </a:p>
          <a:p>
            <a:pPr lvl="1"/>
            <a:r>
              <a:rPr dirty="0"/>
              <a:t>MSC: multi-session chat memory dataset (~400 episodes)</a:t>
            </a:r>
            <a:endParaRPr lang="en-IN" dirty="0"/>
          </a:p>
          <a:p>
            <a:pPr lvl="1"/>
            <a:endParaRPr lang="en-IN" dirty="0"/>
          </a:p>
          <a:p>
            <a:pPr lvl="1"/>
            <a:endParaRPr lang="en-IN" dirty="0"/>
          </a:p>
          <a:p>
            <a:pPr marL="596900" lvl="1" indent="0">
              <a:buNone/>
            </a:pPr>
            <a:endParaRPr dirty="0"/>
          </a:p>
          <a:p>
            <a:r>
              <a:rPr b="1" dirty="0"/>
              <a:t>Episode </a:t>
            </a:r>
            <a:r>
              <a:rPr b="1" dirty="0" err="1"/>
              <a:t>dataclass</a:t>
            </a:r>
            <a:r>
              <a:rPr b="1" dirty="0"/>
              <a:t> (single source of truth)</a:t>
            </a:r>
          </a:p>
          <a:p>
            <a:pPr lvl="1"/>
            <a:r>
              <a:rPr dirty="0" err="1"/>
              <a:t>state_text</a:t>
            </a:r>
            <a:r>
              <a:rPr dirty="0"/>
              <a:t>, </a:t>
            </a:r>
            <a:r>
              <a:rPr dirty="0" err="1"/>
              <a:t>plan_text</a:t>
            </a:r>
            <a:r>
              <a:rPr dirty="0"/>
              <a:t>, </a:t>
            </a:r>
            <a:r>
              <a:rPr dirty="0" err="1"/>
              <a:t>tools_used</a:t>
            </a:r>
            <a:r>
              <a:rPr dirty="0"/>
              <a:t>, </a:t>
            </a:r>
            <a:r>
              <a:rPr dirty="0" err="1"/>
              <a:t>outcome_label</a:t>
            </a:r>
            <a:r>
              <a:rPr dirty="0"/>
              <a:t>, </a:t>
            </a:r>
            <a:r>
              <a:rPr dirty="0" err="1"/>
              <a:t>outcome_text</a:t>
            </a:r>
            <a:endParaRPr dirty="0"/>
          </a:p>
          <a:p>
            <a:pPr lvl="1"/>
            <a:r>
              <a:rPr dirty="0" err="1"/>
              <a:t>task_type</a:t>
            </a:r>
            <a:r>
              <a:rPr dirty="0"/>
              <a:t>, timestamp, source</a:t>
            </a:r>
          </a:p>
          <a:p>
            <a:pPr lvl="1"/>
            <a:r>
              <a:rPr dirty="0" err="1"/>
              <a:t>full_document</a:t>
            </a:r>
            <a:r>
              <a:rPr dirty="0"/>
              <a:t> = state + plan + tools + outcome (for BM25)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Storage / Indexing Layer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r>
              <a:rPr b="1"/>
              <a:t>BM25 index (rank_bm25)</a:t>
            </a:r>
          </a:p>
          <a:p>
            <a:pPr lvl="1"/>
            <a:r>
              <a:t>Tokenized inverted index over full_document</a:t>
            </a:r>
          </a:p>
          <a:p>
            <a:pPr lvl="1"/>
            <a:r>
              <a:t>Pure-Python, in-process, persisted as pickle</a:t>
            </a:r>
          </a:p>
          <a:p>
            <a:r>
              <a:rPr b="1"/>
              <a:t>Dense indices (sentence-transformers + FAISS)</a:t>
            </a:r>
          </a:p>
          <a:p>
            <a:pPr lvl="1"/>
            <a:r>
              <a:t>all-MiniLM-L6-v2, 384-dim, L2-normalized -&gt; cosine via inner product</a:t>
            </a:r>
          </a:p>
          <a:p>
            <a:pPr lvl="1"/>
            <a:r>
              <a:t>Three variants: state, state+plan, plan-only (for field-aware)</a:t>
            </a:r>
          </a:p>
          <a:p>
            <a:r>
              <a:rPr b="1"/>
              <a:t>Knowledge-graph index (scipy.sparse)</a:t>
            </a:r>
          </a:p>
          <a:p>
            <a:pPr lvl="1"/>
            <a:r>
              <a:t>Heterogeneous nodes: episode, tool, tasktype, outcome, entity</a:t>
            </a:r>
          </a:p>
          <a:p>
            <a:pPr lvl="1"/>
            <a:r>
              <a:t>Edges weighted (entity edges idf-scored)</a:t>
            </a:r>
          </a:p>
          <a:p>
            <a:pPr lvl="1"/>
            <a:r>
              <a:t>Stored as one row-normalized CSR transition matrix</a:t>
            </a:r>
          </a:p>
          <a:p>
            <a:r>
              <a:rPr b="1"/>
              <a:t>Metadata store</a:t>
            </a:r>
          </a:p>
          <a:p>
            <a:pPr lvl="1"/>
            <a:r>
              <a:t>episode_id -&gt; Episode lookup, plus outcome filter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Retrieval Methods (8 total)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r>
              <a:rPr dirty="0"/>
              <a:t>All implement a common Retriever protocol with optional </a:t>
            </a:r>
            <a:r>
              <a:rPr dirty="0" err="1"/>
              <a:t>filter_outcome</a:t>
            </a:r>
            <a:r>
              <a:rPr dirty="0"/>
              <a:t>=</a:t>
            </a:r>
            <a:r>
              <a:rPr dirty="0" err="1"/>
              <a:t>success|failure</a:t>
            </a:r>
            <a:r>
              <a:rPr dirty="0"/>
              <a:t> post-filtering.</a:t>
            </a:r>
          </a:p>
          <a:p>
            <a:r>
              <a:rPr b="1" dirty="0"/>
              <a:t>Single-signal:</a:t>
            </a:r>
          </a:p>
          <a:p>
            <a:pPr lvl="1"/>
            <a:r>
              <a:rPr dirty="0"/>
              <a:t>BM25 - lexical inverted index</a:t>
            </a:r>
          </a:p>
          <a:p>
            <a:pPr lvl="1"/>
            <a:r>
              <a:rPr dirty="0"/>
              <a:t>Dense (state) - bi-encoder cosine</a:t>
            </a:r>
          </a:p>
          <a:p>
            <a:pPr lvl="1"/>
            <a:r>
              <a:rPr dirty="0"/>
              <a:t>Dense (state + plan) - same, richer document</a:t>
            </a:r>
          </a:p>
          <a:p>
            <a:r>
              <a:rPr b="1" dirty="0"/>
              <a:t>Multi-signal:</a:t>
            </a:r>
          </a:p>
          <a:p>
            <a:pPr lvl="1"/>
            <a:r>
              <a:rPr dirty="0"/>
              <a:t>Hybrid - alpha * BM25 + (1-alpha) * dense (per-query min-max)</a:t>
            </a:r>
          </a:p>
          <a:p>
            <a:pPr lvl="1"/>
            <a:r>
              <a:rPr dirty="0"/>
              <a:t>Field-Aware - weighted state + plan + tool overlap + outcome</a:t>
            </a:r>
          </a:p>
          <a:p>
            <a:pPr lvl="1"/>
            <a:r>
              <a:rPr dirty="0"/>
              <a:t>KG-PPR - Personalized PageRank over heterogeneous graph</a:t>
            </a:r>
          </a:p>
          <a:p>
            <a:r>
              <a:rPr b="1" dirty="0"/>
              <a:t>Two-stage / multi-stage neural:</a:t>
            </a:r>
          </a:p>
          <a:p>
            <a:pPr lvl="1"/>
            <a:r>
              <a:rPr dirty="0"/>
              <a:t>Cross-Encoder </a:t>
            </a:r>
            <a:r>
              <a:rPr dirty="0" err="1"/>
              <a:t>Rerank</a:t>
            </a:r>
            <a:r>
              <a:rPr dirty="0"/>
              <a:t> - hybrid recall + </a:t>
            </a:r>
            <a:r>
              <a:rPr dirty="0" err="1"/>
              <a:t>ms-marco</a:t>
            </a:r>
            <a:r>
              <a:rPr dirty="0"/>
              <a:t> </a:t>
            </a:r>
            <a:r>
              <a:rPr dirty="0" err="1"/>
              <a:t>MiniLM</a:t>
            </a:r>
            <a:r>
              <a:rPr dirty="0"/>
              <a:t> </a:t>
            </a:r>
            <a:r>
              <a:rPr dirty="0" err="1"/>
              <a:t>rerank</a:t>
            </a:r>
            <a:endParaRPr dirty="0"/>
          </a:p>
          <a:p>
            <a:pPr lvl="1"/>
            <a:r>
              <a:rPr dirty="0"/>
              <a:t>Graph-Augmented </a:t>
            </a:r>
            <a:r>
              <a:rPr dirty="0" err="1"/>
              <a:t>Reranker</a:t>
            </a:r>
            <a:r>
              <a:rPr dirty="0"/>
              <a:t> (GAR) - 5-stage: RRF + CE + graph features + MMR  [NOVEL]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Methods 1: Lexical, Dense, Hybrid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r>
              <a:rPr b="1"/>
              <a:t>BM25</a:t>
            </a:r>
          </a:p>
          <a:p>
            <a:pPr lvl="1"/>
            <a:r>
              <a:t>Score = sum over query terms of idf * tf-saturated(term, doc)</a:t>
            </a:r>
          </a:p>
          <a:p>
            <a:pPr lvl="1"/>
            <a:r>
              <a:t>Strong on exact-keyword overlap; misses paraphrase</a:t>
            </a:r>
          </a:p>
          <a:p>
            <a:r>
              <a:rPr b="1"/>
              <a:t>Dense bi-encoder</a:t>
            </a:r>
          </a:p>
          <a:p>
            <a:pPr lvl="1"/>
            <a:r>
              <a:t>Encode query and doc independently, score by cosine</a:t>
            </a:r>
          </a:p>
          <a:p>
            <a:pPr lvl="1"/>
            <a:r>
              <a:t>Catches paraphrase; loses fine token-level signal</a:t>
            </a:r>
          </a:p>
          <a:p>
            <a:r>
              <a:rPr b="1"/>
              <a:t>Hybrid</a:t>
            </a:r>
          </a:p>
          <a:p>
            <a:pPr lvl="1"/>
            <a:r>
              <a:t>Min-max normalize both score lists per query</a:t>
            </a:r>
          </a:p>
          <a:p>
            <a:pPr lvl="1"/>
            <a:r>
              <a:t>score = alpha * BM25_norm + (1 - alpha) * cos_norm</a:t>
            </a:r>
          </a:p>
          <a:p>
            <a:pPr lvl="1"/>
            <a:r>
              <a:t>alpha = 0.5 default; alpha sweep in Exp 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Methods 2: Field-Aware &amp; Knowledge Graph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r>
              <a:rPr b="1" dirty="0"/>
              <a:t>Field-Aware</a:t>
            </a:r>
          </a:p>
          <a:p>
            <a:pPr lvl="1"/>
            <a:r>
              <a:rPr dirty="0"/>
              <a:t>Recall pool from BM25 union dense-state</a:t>
            </a:r>
          </a:p>
          <a:p>
            <a:pPr lvl="1"/>
            <a:r>
              <a:rPr dirty="0"/>
              <a:t>Re-score: w1*sim(state) + w2*sim(plan) + w3*</a:t>
            </a:r>
            <a:r>
              <a:rPr dirty="0" err="1"/>
              <a:t>tool_jaccard</a:t>
            </a:r>
            <a:r>
              <a:rPr dirty="0"/>
              <a:t> + w4*</a:t>
            </a:r>
            <a:r>
              <a:rPr dirty="0" err="1"/>
              <a:t>outcome_match</a:t>
            </a:r>
            <a:endParaRPr dirty="0"/>
          </a:p>
          <a:p>
            <a:pPr lvl="1"/>
            <a:r>
              <a:rPr dirty="0"/>
              <a:t>Default weights (0.5, 0.2, 0.2, 0.1)</a:t>
            </a:r>
          </a:p>
          <a:p>
            <a:r>
              <a:rPr b="1" dirty="0"/>
              <a:t>Knowledge-Graph PPR (novel storage)</a:t>
            </a:r>
          </a:p>
          <a:p>
            <a:pPr lvl="1"/>
            <a:r>
              <a:rPr dirty="0"/>
              <a:t>Build heterogeneous undirected graph over episodes/tools/types/entities</a:t>
            </a:r>
          </a:p>
          <a:p>
            <a:pPr lvl="1"/>
            <a:r>
              <a:rPr dirty="0"/>
              <a:t>Entity vocab from content tokens with </a:t>
            </a:r>
            <a:r>
              <a:rPr dirty="0" err="1"/>
              <a:t>df</a:t>
            </a:r>
            <a:r>
              <a:rPr dirty="0"/>
              <a:t>&gt;=2; </a:t>
            </a:r>
            <a:r>
              <a:rPr dirty="0" err="1"/>
              <a:t>idf</a:t>
            </a:r>
            <a:r>
              <a:rPr dirty="0"/>
              <a:t>-weighted edges</a:t>
            </a:r>
          </a:p>
          <a:p>
            <a:pPr lvl="1"/>
            <a:r>
              <a:rPr dirty="0"/>
              <a:t>Retrieval = Personalized PageRank with restart, seeded by query entities + tool-vocab keyword hits</a:t>
            </a:r>
          </a:p>
          <a:p>
            <a:pPr lvl="1"/>
            <a:r>
              <a:rPr dirty="0"/>
              <a:t>Captures multi-hop connections: query -&gt; entity -&gt; </a:t>
            </a:r>
            <a:r>
              <a:rPr dirty="0" err="1"/>
              <a:t>ep_A</a:t>
            </a:r>
            <a:r>
              <a:rPr dirty="0"/>
              <a:t> -&gt; </a:t>
            </a:r>
            <a:r>
              <a:rPr dirty="0" err="1"/>
              <a:t>tool_X</a:t>
            </a:r>
            <a:r>
              <a:rPr dirty="0"/>
              <a:t> -&gt; </a:t>
            </a:r>
            <a:r>
              <a:rPr dirty="0" err="1"/>
              <a:t>ep_B</a:t>
            </a: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Methods 3: Cross-Encoder Rerank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r>
              <a:rPr b="1"/>
              <a:t>Two-stage retrieve-then-rerank pattern.</a:t>
            </a:r>
          </a:p>
          <a:p>
            <a:r>
              <a:rPr b="1"/>
              <a:t>Stage 1 - cheap recall:</a:t>
            </a:r>
            <a:r>
              <a:t> Hybrid retriever pulls top 30 candidates</a:t>
            </a:r>
          </a:p>
          <a:p>
            <a:r>
              <a:rPr b="1"/>
              <a:t>Stage 2 - expensive rerank:</a:t>
            </a:r>
            <a:r>
              <a:t> cross-encoder/ms-marco-MiniLM-L-6-v2 scores each (query, episode.full_document) pair jointly</a:t>
            </a:r>
          </a:p>
          <a:p>
            <a:r>
              <a:rPr b="1"/>
              <a:t>Why it works:</a:t>
            </a:r>
            <a:r>
              <a:t> bi-encoders compress query and doc separately. A cross-encoder concatenates them and runs both through attention together, so subtle alignment signals survive.</a:t>
            </a:r>
          </a:p>
          <a:p>
            <a:r>
              <a:rPr b="1"/>
              <a:t>Cost:</a:t>
            </a:r>
            <a:r>
              <a:t> N model calls per query where N = rerank_pool. On CPU about 50-100ms per query for our default pool of 30.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Novel Method: Graph-Augmented </a:t>
            </a:r>
            <a:r>
              <a:rPr dirty="0" err="1"/>
              <a:t>Reranker</a:t>
            </a:r>
            <a:r>
              <a:rPr dirty="0"/>
              <a:t> (GAR)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>
            <a:normAutofit lnSpcReduction="10000"/>
          </a:bodyPr>
          <a:lstStyle/>
          <a:p>
            <a:r>
              <a:rPr b="1" dirty="0"/>
              <a:t>A 5-stage pipeline that fuses every signal type we built.</a:t>
            </a:r>
          </a:p>
          <a:p>
            <a:r>
              <a:rPr b="1" dirty="0"/>
              <a:t>Stage 1 - Reciprocal Rank Fusion</a:t>
            </a:r>
            <a:r>
              <a:rPr dirty="0"/>
              <a:t> over [</a:t>
            </a:r>
            <a:r>
              <a:rPr dirty="0">
                <a:solidFill>
                  <a:srgbClr val="FF0000"/>
                </a:solidFill>
              </a:rPr>
              <a:t>BM25</a:t>
            </a:r>
            <a:r>
              <a:rPr dirty="0"/>
              <a:t>, Dense, KG-PPR]. Combines diverse retrievers without needing comparable score scales.</a:t>
            </a:r>
          </a:p>
          <a:p>
            <a:r>
              <a:rPr b="1" dirty="0"/>
              <a:t>Stage 2 - Cross-encoder pairwise scoring</a:t>
            </a:r>
            <a:r>
              <a:rPr dirty="0"/>
              <a:t> of (query, </a:t>
            </a:r>
            <a:r>
              <a:rPr dirty="0" err="1"/>
              <a:t>full_doc</a:t>
            </a:r>
            <a:r>
              <a:rPr dirty="0"/>
              <a:t>) on the union pool. Strongest single relevance signal.</a:t>
            </a:r>
          </a:p>
          <a:p>
            <a:r>
              <a:rPr b="1" dirty="0"/>
              <a:t>Stage 3 - Graph features per candidate:</a:t>
            </a:r>
            <a:r>
              <a:rPr dirty="0"/>
              <a:t> PPR mass under the same query seeds (graph centrality) and query-vs-episode tool Jaccard (symbolic match).</a:t>
            </a:r>
          </a:p>
          <a:p>
            <a:r>
              <a:rPr b="1" dirty="0"/>
              <a:t>Stage 4 - Min-max normalized weighted fusion:</a:t>
            </a:r>
            <a:r>
              <a:rPr dirty="0"/>
              <a:t> 0.65 * CE + 0.20 * PPR + 0.10 * tool + 0.05 * RRF.</a:t>
            </a:r>
          </a:p>
          <a:p>
            <a:r>
              <a:rPr b="1" dirty="0"/>
              <a:t>Stage 5 - MMR diversification</a:t>
            </a:r>
            <a:r>
              <a:rPr dirty="0"/>
              <a:t> over dense embeddings (lambda=1.0 default = pure relevance; tunable for diverse top-k).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Evaluation Mechanisms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r>
              <a:rPr b="1" dirty="0"/>
              <a:t>Held-out IR evaluation</a:t>
            </a:r>
          </a:p>
          <a:p>
            <a:pPr lvl="1"/>
            <a:r>
              <a:rPr dirty="0"/>
              <a:t>10% held-out queries with seeded random split</a:t>
            </a:r>
          </a:p>
          <a:p>
            <a:pPr lvl="1"/>
            <a:r>
              <a:rPr dirty="0"/>
              <a:t>Train-only indices (no leakage of held-out into BM25/FAISS/KG)</a:t>
            </a:r>
          </a:p>
          <a:p>
            <a:pPr lvl="1"/>
            <a:r>
              <a:rPr dirty="0"/>
              <a:t>Graded relevance via tool-Jaccard with held-out gold tools: 2.0 if Jaccard&gt;=0.5, 1.0 if any overlap, 0.5 if same task type</a:t>
            </a:r>
          </a:p>
          <a:p>
            <a:r>
              <a:rPr b="1" dirty="0"/>
              <a:t>IR metrics</a:t>
            </a:r>
          </a:p>
          <a:p>
            <a:pPr lvl="1"/>
            <a:r>
              <a:rPr dirty="0" err="1"/>
              <a:t>P@k</a:t>
            </a:r>
            <a:r>
              <a:rPr dirty="0"/>
              <a:t>, </a:t>
            </a:r>
            <a:r>
              <a:rPr dirty="0" err="1"/>
              <a:t>R@k</a:t>
            </a:r>
            <a:r>
              <a:rPr dirty="0"/>
              <a:t>, MRR, </a:t>
            </a:r>
            <a:r>
              <a:rPr dirty="0" err="1"/>
              <a:t>nDCG@k</a:t>
            </a:r>
            <a:r>
              <a:rPr dirty="0"/>
              <a:t> for k in {1, 3, 5, 10}</a:t>
            </a:r>
          </a:p>
          <a:p>
            <a:pPr lvl="1"/>
            <a:r>
              <a:rPr dirty="0"/>
              <a:t>P/R/MRR threshold = 2.0 (highly relevant only)</a:t>
            </a:r>
          </a:p>
          <a:p>
            <a:pPr lvl="1"/>
            <a:r>
              <a:rPr dirty="0" err="1"/>
              <a:t>nDCG</a:t>
            </a:r>
            <a:r>
              <a:rPr dirty="0"/>
              <a:t> uses the full graded scale</a:t>
            </a:r>
          </a:p>
          <a:p>
            <a:r>
              <a:rPr b="1" dirty="0"/>
              <a:t>Downstream metrics (simulated agent)</a:t>
            </a:r>
          </a:p>
          <a:p>
            <a:pPr lvl="1"/>
            <a:r>
              <a:rPr dirty="0"/>
              <a:t>Task success rate, failure repetition rate</a:t>
            </a:r>
            <a:endParaRPr lang="en-IN" dirty="0"/>
          </a:p>
          <a:p>
            <a:pPr lvl="1"/>
            <a:r>
              <a:rPr dirty="0"/>
              <a:t>Comparison vs. no-retrieval baseline</a:t>
            </a:r>
            <a:r>
              <a:rPr lang="en-IN" dirty="0"/>
              <a:t> (0.2)</a:t>
            </a:r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Results: IR Method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/>
              <a:t>120 held-out queries, k=5; GAR row highlighted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4225913"/>
              </p:ext>
            </p:extLst>
          </p:nvPr>
        </p:nvGraphicFramePr>
        <p:xfrm>
          <a:off x="365760" y="1325880"/>
          <a:ext cx="8071662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91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413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452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4527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4527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45277">
                  <a:extLst>
                    <a:ext uri="{9D8B030D-6E8A-4147-A177-3AD203B41FA5}">
                      <a16:colId xmlns:a16="http://schemas.microsoft.com/office/drawing/2014/main" val="2920974630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FFFFFF"/>
                          </a:solidFill>
                        </a:rPr>
                        <a:t>Method</a:t>
                      </a:r>
                    </a:p>
                  </a:txBody>
                  <a:tcPr>
                    <a:solidFill>
                      <a:srgbClr val="2E4E8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FFFFFF"/>
                          </a:solidFill>
                        </a:rPr>
                        <a:t>P@5</a:t>
                      </a:r>
                    </a:p>
                  </a:txBody>
                  <a:tcPr>
                    <a:solidFill>
                      <a:srgbClr val="2E4E8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R@5</a:t>
                      </a:r>
                    </a:p>
                  </a:txBody>
                  <a:tcPr>
                    <a:solidFill>
                      <a:srgbClr val="2E4E8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MRR</a:t>
                      </a:r>
                    </a:p>
                  </a:txBody>
                  <a:tcPr>
                    <a:solidFill>
                      <a:srgbClr val="2E4E8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FFFFFF"/>
                          </a:solidFill>
                        </a:rPr>
                        <a:t>nDCG@5</a:t>
                      </a:r>
                    </a:p>
                  </a:txBody>
                  <a:tcPr>
                    <a:solidFill>
                      <a:srgbClr val="2E4E8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100" b="1" dirty="0">
                          <a:solidFill>
                            <a:srgbClr val="FFFFFF"/>
                          </a:solidFill>
                        </a:rPr>
                        <a:t>Task Success </a:t>
                      </a:r>
                    </a:p>
                  </a:txBody>
                  <a:tcPr>
                    <a:solidFill>
                      <a:srgbClr val="2E4E8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100" dirty="0"/>
                        <a:t>BM25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0.167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0.060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0.290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0.385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100" dirty="0"/>
                        <a:t>0.3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100" dirty="0"/>
                        <a:t>Dense (state)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0.143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0.046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0.302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0.375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100" dirty="0"/>
                        <a:t>0.4</a:t>
                      </a:r>
                      <a:endParaRPr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100" dirty="0"/>
                        <a:t>Dense (</a:t>
                      </a:r>
                      <a:r>
                        <a:rPr sz="1100" dirty="0" err="1"/>
                        <a:t>state+plan</a:t>
                      </a:r>
                      <a:r>
                        <a:rPr sz="1100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0.132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0.048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0.277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0.347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100" dirty="0"/>
                        <a:t>0.4</a:t>
                      </a:r>
                      <a:endParaRPr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100" dirty="0"/>
                        <a:t>Hybrid (alpha=0.5)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0.158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0.052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0.317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0.401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100" dirty="0"/>
                        <a:t>0.4</a:t>
                      </a:r>
                      <a:endParaRPr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100" dirty="0"/>
                        <a:t>Field-aware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0.153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0.048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0.304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0.381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100" dirty="0"/>
                        <a:t>0.4 – 0.5</a:t>
                      </a:r>
                      <a:endParaRPr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100" dirty="0"/>
                        <a:t>KG-PPR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0.143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0.043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0.280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0.404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100" dirty="0"/>
                        <a:t>0.5</a:t>
                      </a:r>
                      <a:endParaRPr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100"/>
                        <a:t>CE-rerank(hybrid)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0.165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0.056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0.328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0.408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100" dirty="0"/>
                        <a:t>0.5</a:t>
                      </a:r>
                      <a:endParaRPr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100" b="1"/>
                        <a:t>GAR (proposed)</a:t>
                      </a:r>
                    </a:p>
                  </a:txBody>
                  <a:tcPr>
                    <a:solidFill>
                      <a:srgbClr val="FFF4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/>
                        <a:t>0.170</a:t>
                      </a:r>
                    </a:p>
                  </a:txBody>
                  <a:tcPr>
                    <a:solidFill>
                      <a:srgbClr val="FFF4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/>
                        <a:t>0.061</a:t>
                      </a:r>
                    </a:p>
                  </a:txBody>
                  <a:tcPr>
                    <a:solidFill>
                      <a:srgbClr val="FFF4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/>
                        <a:t>0.331</a:t>
                      </a:r>
                    </a:p>
                  </a:txBody>
                  <a:tcPr>
                    <a:solidFill>
                      <a:srgbClr val="FFF4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/>
                        <a:t>0.411</a:t>
                      </a:r>
                    </a:p>
                  </a:txBody>
                  <a:tcPr>
                    <a:solidFill>
                      <a:srgbClr val="FFF4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100" b="1" dirty="0"/>
                        <a:t>0.8</a:t>
                      </a:r>
                      <a:endParaRPr sz="1100" b="1" dirty="0"/>
                    </a:p>
                  </a:txBody>
                  <a:tcPr>
                    <a:solidFill>
                      <a:srgbClr val="FFF4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Results: Why GAR Wins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r>
              <a:rPr b="1" dirty="0"/>
              <a:t>GAR is the only method in the top tier on every metric.</a:t>
            </a:r>
          </a:p>
          <a:p>
            <a:r>
              <a:rPr dirty="0"/>
              <a:t>Other methods each excel in one dimension but trade off others:</a:t>
            </a:r>
          </a:p>
          <a:p>
            <a:pPr lvl="1"/>
            <a:r>
              <a:rPr dirty="0"/>
              <a:t>BM25 - strong P@5 (sharp lexical hits) but weakest MRR (no semantics)</a:t>
            </a:r>
          </a:p>
          <a:p>
            <a:pPr lvl="1"/>
            <a:r>
              <a:rPr dirty="0"/>
              <a:t>Dense bi-encoder - good MRR but loses to BM25 on P@5 (paraphrase-only)</a:t>
            </a:r>
          </a:p>
          <a:p>
            <a:pPr lvl="1"/>
            <a:r>
              <a:rPr dirty="0"/>
              <a:t>Hybrid - balances lexical and semantic but no structural signal</a:t>
            </a:r>
          </a:p>
          <a:p>
            <a:pPr lvl="1"/>
            <a:r>
              <a:rPr dirty="0"/>
              <a:t>KG-PPR - second-best </a:t>
            </a:r>
            <a:r>
              <a:rPr dirty="0" err="1"/>
              <a:t>nDCG</a:t>
            </a:r>
            <a:r>
              <a:rPr dirty="0"/>
              <a:t> via multi-hop walks but weak top-1 ranking</a:t>
            </a:r>
          </a:p>
          <a:p>
            <a:pPr lvl="1"/>
            <a:r>
              <a:rPr dirty="0"/>
              <a:t>CE-</a:t>
            </a:r>
            <a:r>
              <a:rPr dirty="0" err="1"/>
              <a:t>rerank</a:t>
            </a:r>
            <a:r>
              <a:rPr dirty="0"/>
              <a:t> - very strong on MRR / </a:t>
            </a:r>
            <a:r>
              <a:rPr dirty="0" err="1"/>
              <a:t>nDCG</a:t>
            </a:r>
            <a:r>
              <a:rPr dirty="0"/>
              <a:t> but a single-signal </a:t>
            </a:r>
            <a:r>
              <a:rPr dirty="0" err="1"/>
              <a:t>reranker</a:t>
            </a:r>
            <a:endParaRPr dirty="0"/>
          </a:p>
          <a:p>
            <a:r>
              <a:rPr b="1" dirty="0"/>
              <a:t>Why GAR's stack works:</a:t>
            </a:r>
          </a:p>
          <a:p>
            <a:pPr lvl="1"/>
            <a:r>
              <a:rPr dirty="0"/>
              <a:t>RRF feeds the cross-encoder a more diverse candidate pool than any single first-stage retriever produces</a:t>
            </a:r>
          </a:p>
          <a:p>
            <a:pPr lvl="1"/>
            <a:r>
              <a:rPr dirty="0"/>
              <a:t>Graph features (PPR mass, tool overlap) add signal that the CE alone cannot extract from text</a:t>
            </a:r>
          </a:p>
          <a:p>
            <a:pPr lvl="1"/>
            <a:r>
              <a:rPr dirty="0"/>
              <a:t>Weighted fusion lets the CE dominate (0.65) while graph features act as principled tiebreakers (0.20 + 0.10)</a:t>
            </a:r>
          </a:p>
          <a:p>
            <a:pPr lvl="1"/>
            <a:r>
              <a:rPr dirty="0"/>
              <a:t>MMR slot is preserved for diverse top-k use cases (e.g. LLM prompts)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Conclusions &amp; Deliverables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r>
              <a:rPr b="1"/>
              <a:t>Implemented:</a:t>
            </a:r>
          </a:p>
          <a:p>
            <a:pPr lvl="1"/>
            <a:r>
              <a:t>8 retrievers behind a common protocol (BM25 - GAR)</a:t>
            </a:r>
          </a:p>
          <a:p>
            <a:pPr lvl="1"/>
            <a:r>
              <a:t>Dataset loaders (ACE + MSC) with reproducible synthetic fallback</a:t>
            </a:r>
          </a:p>
          <a:p>
            <a:pPr lvl="1"/>
            <a:r>
              <a:t>Held-out evaluation framework with graded qrels</a:t>
            </a:r>
          </a:p>
          <a:p>
            <a:pPr lvl="1"/>
            <a:r>
              <a:t>Simulated tool-using agent with retrieval-driven tool bias</a:t>
            </a:r>
          </a:p>
          <a:p>
            <a:pPr lvl="1"/>
            <a:r>
              <a:t>27 unit tests, all green; full HANDOVER doc for the next contributor</a:t>
            </a:r>
          </a:p>
          <a:p>
            <a:r>
              <a:rPr b="1"/>
              <a:t>Headline result:</a:t>
            </a:r>
            <a:r>
              <a:t> GAR is the strongest method overall on the held-out set:</a:t>
            </a:r>
          </a:p>
          <a:p>
            <a:pPr lvl="1"/>
            <a:r>
              <a:t>best P@5, R@5, MRR, and nDCG@5 of all 8 methods</a:t>
            </a:r>
          </a:p>
          <a:p>
            <a:pPr lvl="1"/>
            <a:r>
              <a:t>downstream agent: +7.5pp success rate vs. no-retrieval baseline</a:t>
            </a:r>
          </a:p>
          <a:p>
            <a:r>
              <a:rPr b="1"/>
              <a:t>Future work:</a:t>
            </a:r>
            <a:r>
              <a:t> real LLM agent integration, learning-to-rank over GAR's feature streams, online memory updates during agent rollouts.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1529</Words>
  <Application>Microsoft Office PowerPoint</Application>
  <PresentationFormat>On-screen Show (16:9)</PresentationFormat>
  <Paragraphs>199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7" baseType="lpstr">
      <vt:lpstr>Arial</vt:lpstr>
      <vt:lpstr>Simple Light</vt:lpstr>
      <vt:lpstr>Episodic Memory for Adaptive Agent Planning</vt:lpstr>
      <vt:lpstr>Project Motivation</vt:lpstr>
      <vt:lpstr>Problem Statement &amp; Objectives</vt:lpstr>
      <vt:lpstr>System Overview</vt:lpstr>
      <vt:lpstr>Datasets &amp; Episode Schema</vt:lpstr>
      <vt:lpstr>Storage / Indexing Layer</vt:lpstr>
      <vt:lpstr>Retrieval Methods (8 total)</vt:lpstr>
      <vt:lpstr>Methods 1: Lexical, Dense, Hybrid</vt:lpstr>
      <vt:lpstr>Methods 2: Field-Aware &amp; Knowledge Graph</vt:lpstr>
      <vt:lpstr>Methods 3: Cross-Encoder Rerank</vt:lpstr>
      <vt:lpstr>Novel Method: Graph-Augmented Reranker (GAR)</vt:lpstr>
      <vt:lpstr>Evaluation Mechanisms</vt:lpstr>
      <vt:lpstr>Results: IR Method Comparison</vt:lpstr>
      <vt:lpstr>Results: Why GAR Wins</vt:lpstr>
      <vt:lpstr>Conclusions &amp; Deliverables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Divyajot Singh</cp:lastModifiedBy>
  <cp:revision>1</cp:revision>
  <dcterms:modified xsi:type="dcterms:W3CDTF">2026-04-26T11:51:10Z</dcterms:modified>
</cp:coreProperties>
</file>